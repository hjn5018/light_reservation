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920240"/>
            <a:ext cx="3200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  <a:latin typeface="Malgun Gothic"/>
              </a:defRPr>
            </a:pPr>
            <a:r>
              <a:t>IoT 기반 스마트 통합 자원 예약 시스템</a:t>
            </a:r>
          </a:p>
          <a:p>
            <a:pPr>
              <a:spcBef>
                <a:spcPts val="600"/>
              </a:spcBef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Smart Multi-Resource Reservation IoT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Malgun Gothic"/>
              </a:defRPr>
            </a:pPr>
            <a:r>
              <a:t>2대 라즈베리 파이 네트워크 연동 및 3대 하드웨어 피드백 기반 공용 자원 관리 솔루션</a:t>
            </a:r>
          </a:p>
          <a:p>
            <a:pPr>
              <a:spcBef>
                <a:spcPts val="2000"/>
              </a:spcBef>
              <a:defRPr sz="1300">
                <a:solidFill>
                  <a:srgbClr val="10B981"/>
                </a:solidFill>
                <a:latin typeface="Malgun Gothic"/>
              </a:defRPr>
            </a:pPr>
            <a:r>
              <a:t>과목: IoT 제어 실습  |  발표자: 홍길동 (편집 가능)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SMART MULTI-RESOURCE RESERVATION IOT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Malgun Gothic"/>
              </a:defRPr>
            </a:pPr>
            <a:r>
              <a:t>발표 목차 (Contents)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algun Gothic"/>
              </a:defRPr>
            </a:pPr>
            <a:r>
              <a:t>IoT 제어 실습  |  2-Pi 스마트 자원 예약 시스템 발표자료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/>
            <a:r>
              <a:rPr sz="1800" b="1">
                <a:solidFill>
                  <a:srgbClr val="10B981"/>
                </a:solidFill>
                <a:latin typeface="Malgun Gothic"/>
              </a:rPr>
              <a:t>01  </a:t>
            </a:r>
            <a:r>
              <a:rPr sz="1600" b="1">
                <a:solidFill>
                  <a:srgbClr val="F8FAFC"/>
                </a:solidFill>
                <a:latin typeface="Malgun Gothic"/>
              </a:rPr>
              <a:t>📋 프로젝트 개요 및 배경   |   </a:t>
            </a:r>
            <a:r>
              <a:rPr sz="1200">
                <a:solidFill>
                  <a:srgbClr val="94A3B8"/>
                </a:solidFill>
                <a:latin typeface="Malgun Gothic"/>
              </a:rPr>
              <a:t>공용 자원 무단 점유와 예약 No-Show 분쟁의 원인과 시스템적 대안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72865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/>
            <a:r>
              <a:rPr sz="1800" b="1">
                <a:solidFill>
                  <a:srgbClr val="F59E0B"/>
                </a:solidFill>
                <a:latin typeface="Malgun Gothic"/>
              </a:rPr>
              <a:t>02  </a:t>
            </a:r>
            <a:r>
              <a:rPr sz="1600" b="1">
                <a:solidFill>
                  <a:srgbClr val="F8FAFC"/>
                </a:solidFill>
                <a:latin typeface="Malgun Gothic"/>
              </a:rPr>
              <a:t>🛠️ 사용 장비 및 시스템 구성   |   </a:t>
            </a:r>
            <a:r>
              <a:rPr sz="1200">
                <a:solidFill>
                  <a:srgbClr val="94A3B8"/>
                </a:solidFill>
                <a:latin typeface="Malgun Gothic"/>
              </a:rPr>
              <a:t>2대 라즈베리 파이 및 3대 물리 액추에이터 하드웨어/네트워크 연동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72865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/>
            <a:r>
              <a:rPr sz="1800" b="1">
                <a:solidFill>
                  <a:srgbClr val="10B981"/>
                </a:solidFill>
                <a:latin typeface="Malgun Gothic"/>
              </a:rPr>
              <a:t>03  </a:t>
            </a:r>
            <a:r>
              <a:rPr sz="1600" b="1">
                <a:solidFill>
                  <a:srgbClr val="F8FAFC"/>
                </a:solidFill>
                <a:latin typeface="Malgun Gothic"/>
              </a:rPr>
              <a:t>📅 개발 일정 및 전체 흐름도   |   </a:t>
            </a:r>
            <a:r>
              <a:rPr sz="1200">
                <a:solidFill>
                  <a:srgbClr val="94A3B8"/>
                </a:solidFill>
                <a:latin typeface="Malgun Gothic"/>
              </a:rPr>
              <a:t>3주 개발 주기 타임라인 및 클라이언트-서버 간 제어 순서도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1072865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/>
            <a:r>
              <a:rPr sz="1800" b="1">
                <a:solidFill>
                  <a:srgbClr val="F59E0B"/>
                </a:solidFill>
                <a:latin typeface="Malgun Gothic"/>
              </a:rPr>
              <a:t>04  </a:t>
            </a:r>
            <a:r>
              <a:rPr sz="1600" b="1">
                <a:solidFill>
                  <a:srgbClr val="F8FAFC"/>
                </a:solidFill>
                <a:latin typeface="Malgun Gothic"/>
              </a:rPr>
              <a:t>🔒 핵심 소프트웨어 기술 설명   |   </a:t>
            </a:r>
            <a:r>
              <a:rPr sz="1200">
                <a:solidFill>
                  <a:srgbClr val="94A3B8"/>
                </a:solidFill>
                <a:latin typeface="Malgun Gothic"/>
              </a:rPr>
              <a:t>CGI 게이트웨이, TCP 소켓 통신, 멀티스레딩, Mutex 데이터 잠금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72865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/>
            <a:r>
              <a:rPr sz="1800" b="1">
                <a:solidFill>
                  <a:srgbClr val="10B981"/>
                </a:solidFill>
                <a:latin typeface="Malgun Gothic"/>
              </a:rPr>
              <a:t>05  </a:t>
            </a:r>
            <a:r>
              <a:rPr sz="1600" b="1">
                <a:solidFill>
                  <a:srgbClr val="F8FAFC"/>
                </a:solidFill>
                <a:latin typeface="Malgun Gothic"/>
              </a:rPr>
              <a:t>📷 작동 시연 및 기대효과   |   </a:t>
            </a:r>
            <a:r>
              <a:rPr sz="1200">
                <a:solidFill>
                  <a:srgbClr val="94A3B8"/>
                </a:solidFill>
                <a:latin typeface="Malgun Gothic"/>
              </a:rPr>
              <a:t>실제 시스템 구동 화면 구성, 기대효과 및 향후 발전 가능성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SMART MULTI-RESOURCE RESERVATION IOT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Malgun Gothic"/>
              </a:defRPr>
            </a:pPr>
            <a:r>
              <a:t>1. 개발 배경 및 필요성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algun Gothic"/>
              </a:defRPr>
            </a:pPr>
            <a:r>
              <a:t>IoT 제어 실습  |  2-Pi 스마트 자원 예약 시스템 발표자료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F8FAFC"/>
                </a:solidFill>
                <a:latin typeface="Malgun Gothic"/>
              </a:defRPr>
            </a:pPr>
            <a:r>
              <a:t>💡 공용 자원 관리의 고질적인 무단 점유와 예약 방치(No-Show)를 시스템 제어로 해결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🚨 기존 공용 자원의 관리 한계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Malgun Gothic"/>
              </a:defRPr>
            </a:pPr>
            <a:r>
              <a:t>• 비인가 무단 점유: 실시간 예약 및 점유 상태가 불투명하여 발생하는 자원 가로채기와 마찰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Malgun Gothic"/>
              </a:defRPr>
            </a:pPr>
            <a:r>
              <a:t>• 자원 독점과 노쇼: 예약 후 방치해 두어 다른 사용자들의 자원 접근 기회를 일방적으로 박탈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Malgun Gothic"/>
              </a:defRPr>
            </a:pPr>
            <a:r>
              <a:t>• 물리 피드백 부재: 화면을 모니터링하기 전까지는 기기 상태나 반납 시간을 직관적으로 알기 어려움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  <a:latin typeface="Malgun Gothic"/>
              </a:defRPr>
            </a:pPr>
            <a:r>
              <a:t>✅ 스마트 예약 시스템의 해결 대안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Malgun Gothic"/>
              </a:defRPr>
            </a:pPr>
            <a:r>
              <a:t>• 웹 실시간 대시보드: 5초 주기로 모든 공용 물품/공간의 예약 상태를 한눈에 비동기 모니터링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Malgun Gothic"/>
              </a:defRPr>
            </a:pPr>
            <a:r>
              <a:t>• 4자리 PIN 본인 식별: 복잡한 가입 없이 예약 시 PIN 번호를 활용해 타인의 오용 및 해제 원천 차단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Malgun Gothic"/>
              </a:defRPr>
            </a:pPr>
            <a:r>
              <a:t>• 자동 만료 스케줄러: 지정 대기 시간 내 미사용 시 노쇼 취소 처리, 최대 사용시간 경과 시 자동 반납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SMART MULTI-RESOURCE RESERVATION IOT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Malgun Gothic"/>
              </a:defRPr>
            </a:pPr>
            <a:r>
              <a:t>2. 사용 장비 및 부품 사양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algun Gothic"/>
              </a:defRPr>
            </a:pPr>
            <a:r>
              <a:t>IoT 제어 실습  |  2-Pi 스마트 자원 예약 시스템 발표자료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2800"/>
            </a:pPr>
            <a:r>
              <a:t>🖥️</a:t>
            </a:r>
          </a:p>
          <a:p>
            <a:pPr algn="ctr">
              <a:defRPr sz="1400" b="1">
                <a:solidFill>
                  <a:srgbClr val="F8FAFC"/>
                </a:solidFill>
                <a:latin typeface="Malgun Gothic"/>
              </a:defRPr>
            </a:pPr>
            <a:r>
              <a:t>라즈베리 파이 4 (2대)</a:t>
            </a:r>
          </a:p>
          <a:p>
            <a:pPr algn="ctr">
              <a:spcAft>
                <a:spcPts val="1200"/>
              </a:spcAft>
              <a:defRPr sz="1100">
                <a:solidFill>
                  <a:srgbClr val="10B981"/>
                </a:solidFill>
                <a:latin typeface="Malgun Gothic"/>
              </a:defRPr>
            </a:pPr>
            <a:r>
              <a:t>시스템 연동 제어 코어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- Pi A: Apache 웹 서버 호스팅 및 웹-서버 CGI 소켓 게이트웨이 역할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- Pi B: Flask REST API 처리, 백그라운드 소켓 수신 및 하드웨어 액추에이터 제어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2800"/>
            </a:pPr>
            <a:r>
              <a:t>🚨</a:t>
            </a:r>
          </a:p>
          <a:p>
            <a:pPr algn="ctr">
              <a:defRPr sz="1400" b="1">
                <a:solidFill>
                  <a:srgbClr val="F8FAFC"/>
                </a:solidFill>
                <a:latin typeface="Malgun Gothic"/>
              </a:defRPr>
            </a:pPr>
            <a:r>
              <a:t>삼색 LED (3개)</a:t>
            </a:r>
          </a:p>
          <a:p>
            <a:pPr algn="ctr">
              <a:spcAft>
                <a:spcPts val="1200"/>
              </a:spcAft>
              <a:defRPr sz="1100">
                <a:solidFill>
                  <a:srgbClr val="F59E0B"/>
                </a:solidFill>
                <a:latin typeface="Malgun Gothic"/>
              </a:defRPr>
            </a:pPr>
            <a:r>
              <a:t>직관적인 시각 피드백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- 자원의 상태 변화를 신호등 개념으로 가시화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- 초록 LED: 대기 상태(Available)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- 노란 LED: 예약 상태(Reserved)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- 빨간 LED: 사용 상태(In Use)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2800"/>
            </a:pPr>
            <a:r>
              <a:t>📟</a:t>
            </a:r>
          </a:p>
          <a:p>
            <a:pPr algn="ctr">
              <a:defRPr sz="1400" b="1">
                <a:solidFill>
                  <a:srgbClr val="F8FAFC"/>
                </a:solidFill>
                <a:latin typeface="Malgun Gothic"/>
              </a:defRPr>
            </a:pPr>
            <a:r>
              <a:t>16x2 Character LCD</a:t>
            </a:r>
          </a:p>
          <a:p>
            <a:pPr algn="ctr">
              <a:spcAft>
                <a:spcPts val="1200"/>
              </a:spcAft>
              <a:defRPr sz="1100">
                <a:solidFill>
                  <a:srgbClr val="10B981"/>
                </a:solidFill>
                <a:latin typeface="Malgun Gothic"/>
              </a:defRPr>
            </a:pPr>
            <a:r>
              <a:t>포커스 자원 문자 출력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- 선택된 기기의 영문 자원명 실시간 렌더링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- 기기의 현재 세부 동작 상태 문자 표현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- 가변저항(Potentiometer) 회로 연동을 통해 전압 대비(Contrast) 미세 튜닝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2800"/>
            </a:pPr>
            <a:r>
              <a:t>🔊</a:t>
            </a:r>
          </a:p>
          <a:p>
            <a:pPr algn="ctr">
              <a:defRPr sz="1400" b="1">
                <a:solidFill>
                  <a:srgbClr val="F8FAFC"/>
                </a:solidFill>
                <a:latin typeface="Malgun Gothic"/>
              </a:defRPr>
            </a:pPr>
            <a:r>
              <a:t>피에조 패시브 부저</a:t>
            </a:r>
          </a:p>
          <a:p>
            <a:pPr algn="ctr">
              <a:spcAft>
                <a:spcPts val="1200"/>
              </a:spcAft>
              <a:defRPr sz="1100">
                <a:solidFill>
                  <a:srgbClr val="F59E0B"/>
                </a:solidFill>
                <a:latin typeface="Malgun Gothic"/>
              </a:defRPr>
            </a:pPr>
            <a:r>
              <a:t>상태 전이 청각 피드백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- 주파수 PWM 변조를 활용한 상태 변경 음계 연주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- 사용 시작 시: 상승음 (도-미-솔) 멜로디 알림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- 자동 만료/반납 시: 하강음 (솔-미-도) 멜로디 경보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SMART MULTI-RESOURCE RESERVATION IOT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Malgun Gothic"/>
              </a:defRPr>
            </a:pPr>
            <a:r>
              <a:t>3. 개발 일정 및 수행 내역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algun Gothic"/>
              </a:defRPr>
            </a:pPr>
            <a:r>
              <a:t>IoT 제어 실습  |  2-Pi 스마트 자원 예약 시스템 발표자료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931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📅 1주차: 기획 &amp; 설계</a:t>
            </a:r>
          </a:p>
          <a:p>
            <a:pPr>
              <a:spcAft>
                <a:spcPts val="18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2026.06.04 ~ 2026.06.10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Malgun Gothic"/>
              </a:defRPr>
            </a:pPr>
            <a:r>
              <a:t>• 요구사항 분석 및 관리 자원(공간/기기)의 명세 구체화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Malgun Gothic"/>
              </a:defRPr>
            </a:pPr>
            <a:r>
              <a:t>• Pi A 및 Pi B 간의 이원화 네트워크 통신 방식 아키텍처 수립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Malgun Gothic"/>
              </a:defRPr>
            </a:pPr>
            <a:r>
              <a:t>• 라즈베리 파이 GPIO 회로도 설계 (LED, LCD, 부저 핀 맵 매핑)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14800" y="3611880"/>
            <a:ext cx="182880" cy="36576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3931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59E0B"/>
                </a:solidFill>
                <a:latin typeface="Malgun Gothic"/>
              </a:defRPr>
            </a:pPr>
            <a:r>
              <a:t>📅 2주차: 구현 &amp; 프로그래밍</a:t>
            </a:r>
          </a:p>
          <a:p>
            <a:pPr>
              <a:spcAft>
                <a:spcPts val="18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2026.06.11 ~ 2026.06.17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Malgun Gothic"/>
              </a:defRPr>
            </a:pPr>
            <a:r>
              <a:t>• Pi A Apache 호스팅 환경 구축 및 CGI 게이트웨이 파이썬 구현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Malgun Gothic"/>
              </a:defRPr>
            </a:pPr>
            <a:r>
              <a:t>• Pi B Flask REST API 엔드포인트 및 다중 스레드 소켓 서버 코어 개발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Malgun Gothic"/>
              </a:defRPr>
            </a:pPr>
            <a:r>
              <a:t>• GPIO 드라이버 모듈(LCD, LED, 패시브 부저 PWM) 작성 및 더미 모드 연동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772400" y="3611880"/>
            <a:ext cx="182880" cy="36576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3931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📅 3주차: 검증 &amp; 최적화</a:t>
            </a:r>
          </a:p>
          <a:p>
            <a:pPr>
              <a:spcAft>
                <a:spcPts val="1800"/>
              </a:spcAft>
              <a:defRPr sz="1200">
                <a:solidFill>
                  <a:srgbClr val="94A3B8"/>
                </a:solidFill>
                <a:latin typeface="Malgun Gothic"/>
              </a:defRPr>
            </a:pPr>
            <a:r>
              <a:t>2026.06.18 ~ 2026.06.25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Malgun Gothic"/>
              </a:defRPr>
            </a:pPr>
            <a:r>
              <a:t>• 전체 네트워크 연동 및 예외 시나리오 통합 테스트(PIN 검증, 마스터 PIN)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Malgun Gothic"/>
              </a:defRPr>
            </a:pPr>
            <a:r>
              <a:t>• 백그라운드 만료 스케줄러 스레드의 타이머 연산 디버깅 및 안전 잠금 확인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Malgun Gothic"/>
              </a:defRPr>
            </a:pPr>
            <a:r>
              <a:t>• setup.sh 설치 자동화 쉘 스크립트 작성 및 시스템 서비스 데몬 등록 검수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SMART MULTI-RESOURCE RESERVATION IOT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Malgun Gothic"/>
              </a:defRPr>
            </a:pPr>
            <a:r>
              <a:t>4. 전체 시스템 구성도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algun Gothic"/>
              </a:defRPr>
            </a:pPr>
            <a:r>
              <a:t>IoT 제어 실습  |  2-Pi 스마트 자원 예약 시스템 발표자료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  <a:latin typeface="Malgun Gothic"/>
              </a:defRPr>
            </a:pPr>
            <a:r>
              <a:t>📟 Pi A : 웹 게이트웨이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Malgun Gothic"/>
              </a:defRPr>
            </a:pPr>
            <a:r>
              <a:t>- Apache Web Server: 포트 80 호스팅, 정적 웹 리소스 제공 (HTML, JS)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Malgun Gothic"/>
              </a:defRPr>
            </a:pPr>
            <a:r>
              <a:t>- ExecCGI 모듈: 비동기 데이터 통신을 위한 Python CGI 핸들러 연동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Malgun Gothic"/>
              </a:defRPr>
            </a:pPr>
            <a:r>
              <a:t>- CGI Script (update_status.py): 웹 브라우저의 제어 패킷을 해석하고 Pi B로 TCP 소켓 릴레이 송신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1400"/>
              </a:spcAft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🔌 이원화 통신 파이프라인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Malgun Gothic"/>
              </a:defRPr>
            </a:pPr>
            <a:r>
              <a:t>- 제어 명령 (저지연): 사용자 상태 전환 시 Pi A CGI 스크립트와 Pi B 소켓 리스너 스레드 간의 1:1 TCP Raw Socket 통신 (포트 50007)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Malgun Gothic"/>
              </a:defRPr>
            </a:pPr>
            <a:r>
              <a:t>- 상태 조회 (REST API): 웹 대시보드에서 예약 현황 및 잔여 시간 동기화를 위해 5초 단위로 Pi B Flask API를 비동기 호출 (포트 5000)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  <a:latin typeface="Malgun Gothic"/>
              </a:defRPr>
            </a:pPr>
            <a:r>
              <a:t>⚙️ Pi B : 하드웨어 코어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Malgun Gothic"/>
              </a:defRPr>
            </a:pPr>
            <a:r>
              <a:t>- Flask API Server: 전역 예약 상태 조회 및 실시간 잔여시간 계산 제공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Malgun Gothic"/>
              </a:defRPr>
            </a:pPr>
            <a:r>
              <a:t>- Socket Listener: 백그라운드 소켓 스레드가 상시 대기하여 Pi A CGI 제어 패킷 수신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Malgun Gothic"/>
              </a:defRPr>
            </a:pPr>
            <a:r>
              <a:t>- 액추에이터 제어 모듈: LED 갱신(led.py), 부저 PWM 변조(buzzer.py), 한글 매핑 LCD 제어(lcd.py) 구동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Malgun Gothic"/>
              </a:defRPr>
            </a:pPr>
            <a:r>
              <a:t>- JSON DB: data.json 로컬 영속 저장 및 정전 시 직전 상태 백업 복구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SMART MULTI-RESOURCE RESERVATION IOT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Malgun Gothic"/>
              </a:defRPr>
            </a:pPr>
            <a:r>
              <a:t>5. 전체 시스템 연동 흐름도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algun Gothic"/>
              </a:defRPr>
            </a:pPr>
            <a:r>
              <a:t>IoT 제어 실습  |  2-Pi 스마트 자원 예약 시스템 발표자료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300" b="1">
                <a:solidFill>
                  <a:srgbClr val="10B981"/>
                </a:solidFill>
                <a:latin typeface="Malgun Gothic"/>
              </a:rPr>
              <a:t>1. 예약 / 제어 요청   |   </a:t>
            </a:r>
            <a:r>
              <a:rPr sz="1100">
                <a:solidFill>
                  <a:srgbClr val="F8FAFC"/>
                </a:solidFill>
                <a:latin typeface="Malgun Gothic"/>
              </a:rPr>
              <a:t>사용자가 웹 대시보드(index.html)에서 특정 기기 예약 버튼 클릭 후 본인 확인을 위한 4자리 비밀번호(PIN) 입력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728655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300" b="1">
                <a:solidFill>
                  <a:srgbClr val="F59E0B"/>
                </a:solidFill>
                <a:latin typeface="Malgun Gothic"/>
              </a:rPr>
              <a:t>2. CGI 및 TCP 소켓 송신   |   </a:t>
            </a:r>
            <a:r>
              <a:rPr sz="1100">
                <a:solidFill>
                  <a:srgbClr val="F8FAFC"/>
                </a:solidFill>
                <a:latin typeface="Malgun Gothic"/>
              </a:rPr>
              <a:t>브라우저 요청을 접수한 Pi A의 Apache CGI(update_status.py)가 저지연 TCP 소켓 연결을 맺고 제어 패킷을 Pi B로 전송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728655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300" b="1">
                <a:solidFill>
                  <a:srgbClr val="10B981"/>
                </a:solidFill>
                <a:latin typeface="Malgun Gothic"/>
              </a:rPr>
              <a:t>3. 소켓 수신 및 뮤텍스 락   |   </a:t>
            </a:r>
            <a:r>
              <a:rPr sz="1100">
                <a:solidFill>
                  <a:srgbClr val="F8FAFC"/>
                </a:solidFill>
                <a:latin typeface="Malgun Gothic"/>
              </a:rPr>
              <a:t>Pi B 백그라운드 소켓 리스너 스레드가 이를 수신하고, Flask API 조회와의 충돌을 막기 위해 Mutex Lock을 획득 후 data.json 갱신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728655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300" b="1">
                <a:solidFill>
                  <a:srgbClr val="F59E0B"/>
                </a:solidFill>
                <a:latin typeface="Malgun Gothic"/>
              </a:rPr>
              <a:t>4. 하드웨어 물리 피드백   |   </a:t>
            </a:r>
            <a:r>
              <a:rPr sz="1100">
                <a:solidFill>
                  <a:srgbClr val="F8FAFC"/>
                </a:solidFill>
                <a:latin typeface="Malgun Gothic"/>
              </a:rPr>
              <a:t>상태 전이에 상응하는 물리 액추에이터 제어 수행 (LED 색상 변경, 피에조 부저 멜로디 출력, Character LCD 텍스트 갱신)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728655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300" b="1">
                <a:solidFill>
                  <a:srgbClr val="10B981"/>
                </a:solidFill>
                <a:latin typeface="Malgun Gothic"/>
              </a:rPr>
              <a:t>5. 백그라운드 스케줄러   |   </a:t>
            </a:r>
            <a:r>
              <a:rPr sz="1100">
                <a:solidFill>
                  <a:srgbClr val="F8FAFC"/>
                </a:solidFill>
                <a:latin typeface="Malgun Gothic"/>
              </a:rPr>
              <a:t>Pi B의 데몬 스레드가 1초 주기로 돌며 노쇼 시간 만료(1분) 및 사용 한도(3분) 초과를 체크하고, 초과 시 즉각 대기(Idle) 상태로 강제 전환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728655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300" b="1">
                <a:solidFill>
                  <a:srgbClr val="F59E0B"/>
                </a:solidFill>
                <a:latin typeface="Malgun Gothic"/>
              </a:rPr>
              <a:t>6. 실시간 브라우저 동기화   |   </a:t>
            </a:r>
            <a:r>
              <a:rPr sz="1100">
                <a:solidFill>
                  <a:srgbClr val="F8FAFC"/>
                </a:solidFill>
                <a:latin typeface="Malgun Gothic"/>
              </a:rPr>
              <a:t>사용자 브라우저가 Flask API(/api/status)를 5초마다 주기적으로 비동기 폴링하여, 갱신된 전역 예약 상태와 카운트다운 초 단위를 화면에 갱신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SMART MULTI-RESOURCE RESERVATION IOT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Malgun Gothic"/>
              </a:defRPr>
            </a:pPr>
            <a:r>
              <a:t>6. 주요 기술 명세 및 동기화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algun Gothic"/>
              </a:defRPr>
            </a:pPr>
            <a:r>
              <a:t>IoT 제어 실습  |  2-Pi 스마트 자원 예약 시스템 발표자료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10B981"/>
                </a:solidFill>
                <a:latin typeface="Malgun Gothic"/>
              </a:defRPr>
            </a:pPr>
            <a:r>
              <a:t>📡 CGI (Common Gateway Interface)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웹 서버와 백엔드 통신 매개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• Apache Web Server 포트 80과 외부 브라우저 단말과의 동적 게이트웨이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• 사용자의 POST/GET 비동기 신호를 파이썬 환경 변수로 매핑 해석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• 소켓 인스턴스를 동적 생성하여 서버 내부 백엔드로 연결 송신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Malgun Gothic"/>
              </a:defRPr>
            </a:pPr>
            <a:r>
              <a:t>🔌 저지연 TCP 소켓 통신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초고속 1:1 양방향 네트워킹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• 포트 50007번에서 Pi A CGI 클라이언트와 Pi B 소켓 리스너 스레드 연동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• HTTP 오버헤드가 배제된 원시 TCP 세션 데이터 전송으로 패킷 지연 최소화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• JSON 기반 상태 제어 명령어 전송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10B981"/>
                </a:solidFill>
                <a:latin typeface="Malgun Gothic"/>
              </a:defRPr>
            </a:pPr>
            <a:r>
              <a:t>🧵 멀티스레드 (Daemon Threads)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백그라운드 다중 업무 병렬 처리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• 소켓 리스너 스레드: 클라이언트의 갑작스러운 접속과 제어 명령 상시 대기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• 타이머 스케줄러 스레드: 1초 간격 상태 및 만료 시간 연산 백그라운드 구동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• daemon=True 설정으로 웹 해제 시 동시 정지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Malgun Gothic"/>
              </a:defRPr>
            </a:pPr>
            <a:r>
              <a:t>🔒 뮤텍스 락 (Mutex Lock)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Malgun Gothic"/>
              </a:defRPr>
            </a:pPr>
            <a:r>
              <a:t>경쟁 상태 차단 및 데이터 보호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• state_lock = threading.Lock()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• 다수의 스레드(Flask/Socket/Scheduler)가 전역 객체 및 파일 DB에 동시 접근 차단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  <a:latin typeface="Malgun Gothic"/>
              </a:defRPr>
            </a:pPr>
            <a:r>
              <a:t>• with state_lock: 구문을 사용해 데이터 무결성(Data Integrity) 확보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SMART MULTI-RESOURCE RESERVATION IOT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Malgun Gothic"/>
              </a:defRPr>
            </a:pPr>
            <a:r>
              <a:t>7. 실제 시스템 작동 시연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algun Gothic"/>
              </a:defRPr>
            </a:pPr>
            <a:r>
              <a:t>IoT 제어 실습  |  2-Pi 스마트 자원 예약 시스템 발표자료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1097280"/>
          <a:lstStyle/>
          <a:p>
            <a:pPr algn="ctr">
              <a:spcAft>
                <a:spcPts val="1000"/>
              </a:spcAft>
              <a:defRPr sz="3600"/>
            </a:pPr>
            <a:r>
              <a:t>📷</a:t>
            </a:r>
          </a:p>
          <a:p>
            <a:pPr algn="ctr">
              <a:spcAft>
                <a:spcPts val="1000"/>
              </a:spcAft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[ 실제 작동 이미지 영역 ]</a:t>
            </a:r>
          </a:p>
          <a:p>
            <a:pPr algn="ctr">
              <a:defRPr sz="1300">
                <a:solidFill>
                  <a:srgbClr val="F8FAFC"/>
                </a:solidFill>
                <a:latin typeface="Malgun Gothic"/>
              </a:defRPr>
            </a:pPr>
            <a:r>
              <a:t>추후 제공해주실 실제 동작 화면 및 연동 회로 하드웨어 실물 이미지를 배치할 공간입니다.</a:t>
            </a:r>
            <a:br/>
            <a:br/>
            <a:r>
              <a:t>예시: 웹 대시보드(index.html) 예약 상태 카드 화면,</a:t>
            </a:r>
            <a:br/>
            <a:r>
              <a:t>라즈베리 파이 B 하드웨어(LED 신호등, 16x2 LCD 문자 출력, 부저) 조립 및 실습 장치 사진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SMART MULTI-RESOURCE RESERVATION IOT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Malgun Gothic"/>
              </a:defRPr>
            </a:pPr>
            <a:r>
              <a:t>8. 향후 시스템 발전 가능성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algun Gothic"/>
              </a:defRPr>
            </a:pPr>
            <a:r>
              <a:t>IoT 제어 실습  |  2-Pi 스마트 자원 예약 시스템 발표자료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🌐 클라우드 데이터베이스 연동 확장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Malgun Gothic"/>
              </a:defRPr>
            </a:pPr>
            <a:r>
              <a:t>현재는 로컬 data.json 데이터 저장소를 사용하여 동네 또는 단일 실습실 제어에 한정되어 있습니다. 향후 Firebase나 AWS 클라우드 RDB 및 NoSQL 연동을 적용하여, 전국에 분산된 공유회의실이나 스마트 물품 보관 지점들의 상태를 통합 제어하고 동기화할 수 있도록 대규모 분산 구조로 확장 가능합니다.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F59E0B"/>
                </a:solidFill>
                <a:latin typeface="Malgun Gothic"/>
              </a:defRPr>
            </a:pPr>
            <a:r>
              <a:t>📱 전용 모바일 앱 및 하이브리드 PWA 연동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Malgun Gothic"/>
              </a:defRPr>
            </a:pPr>
            <a:r>
              <a:t>사용자 접근성을 극대화하기 위해 반응형 웹을 넘어 전용 하이브리드 앱 또는 Progressive Web App(PWA)을 배포합니다. 실시간 잔여시간 만료 1분 전 및 노쇼 경고 시 모바일 푸시 알림(FCM Push Notification) 서비스를 연동하여 이용 회전 효과를 극대화합니다.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🔑 생체 정보 및 NFC 카드 본인인증 접목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Malgun Gothic"/>
              </a:defRPr>
            </a:pPr>
            <a:r>
              <a:t>4자리 숫자를 입력하는 수동 PIN 번호 방식 외에, 라즈베리 파이에 NFC 리더기를 연동하여 학생증 카드나 사원증 태그를 접목하거나 지문 인식 모듈을 통해 보안성과 현장 사용 인증 편의성을 한 단계 업그레이드합니다.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93192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F59E0B"/>
                </a:solidFill>
                <a:latin typeface="Malgun Gothic"/>
              </a:defRPr>
            </a:pPr>
            <a:r>
              <a:t>📈 빅데이터 기반 자원 사용 분석 대시보드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Malgun Gothic"/>
              </a:defRPr>
            </a:pPr>
            <a:r>
              <a:t>데이터베이스에 누적되는 예약 시간대, 기기별 가동률, 주로 취소/노쇼가 발생하는 원인을 인공지능 알고리즘과 BI 툴을 결합하여 분석합니다. 이를 통해 수요가 쏠리는 시간대의 예약 가중치 설정 및 공용 공간 자재 재배치 최적화 의사결정을 지원합니다.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SMART MULTI-RESOURCE RESERVATION IOT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Malgun Gothic"/>
              </a:defRPr>
            </a:pPr>
            <a:r>
              <a:t>9. 결론 및 기대효과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algun Gothic"/>
              </a:defRPr>
            </a:pPr>
            <a:r>
              <a:t>IoT 제어 실습  |  2-Pi 스마트 자원 예약 시스템 발표자료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600"/>
              </a:spcAft>
              <a:defRPr sz="2000" b="1">
                <a:solidFill>
                  <a:srgbClr val="10B981"/>
                </a:solidFill>
                <a:latin typeface="Malgun Gothic"/>
              </a:defRPr>
            </a:pPr>
            <a:r>
              <a:t>🌟 공유 자원의 효율적 운영과 질서 있는 공동체 문화 확립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300">
                <a:solidFill>
                  <a:srgbClr val="F8FAFC"/>
                </a:solidFill>
                <a:latin typeface="Malgun Gothic"/>
              </a:defRPr>
            </a:pPr>
            <a:r>
              <a:t>✔ 무단 점유 및 오용 방지: 4자리 PIN 기반 자율 인증 체계로 무단 상태 해제 및 점유 가로채기 갈등 해결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300">
                <a:solidFill>
                  <a:srgbClr val="F8FAFC"/>
                </a:solidFill>
                <a:latin typeface="Malgun Gothic"/>
              </a:defRPr>
            </a:pPr>
            <a:r>
              <a:t>✔ 자원 회전 효율의 공정 분배: 1초 주기 타이머 스케줄러가 노쇼 기기를 감지해 즉시 회수하고 사용 한도 강제 해제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300">
                <a:solidFill>
                  <a:srgbClr val="F8FAFC"/>
                </a:solidFill>
                <a:latin typeface="Malgun Gothic"/>
              </a:defRPr>
            </a:pPr>
            <a:r>
              <a:t>✔ 공용 물품 관리의 범위 대중화: 회의실 뿐만 아니라 PC, 학과 공유기, 소형 키트류 등 미세 공용물도 대시보드 연동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300">
                <a:solidFill>
                  <a:srgbClr val="F8FAFC"/>
                </a:solidFill>
                <a:latin typeface="Malgun Gothic"/>
              </a:defRPr>
            </a:pPr>
            <a:r>
              <a:t>✔ 감성적 피드백을 통한 사용 의식 개선: 시인성 높은 삼색 LED 신호등 및 기분 좋은 부저 음계가 규칙 준수 유도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